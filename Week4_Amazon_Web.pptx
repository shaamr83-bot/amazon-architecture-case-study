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tableStyles" Target="tableStyle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8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8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8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4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9" name=""/>
        <p:cNvGrpSpPr/>
        <p:nvPr/>
      </p:nvGrpSpPr>
      <p:grpSpPr>
        <a:xfrm/>
      </p:grpSpPr>
      <p:sp>
        <p:nvSpPr>
          <p:cNvPr id="1048584" name="TextBox 1"/>
          <p:cNvSpPr txBox="1"/>
          <p:nvPr/>
        </p:nvSpPr>
        <p:spPr>
          <a:xfrm>
            <a:off x="731520" y="914400"/>
            <a:ext cx="10698480" cy="301752"/>
          </a:xfrm>
          <a:prstGeom prst="rect"/>
          <a:noFill/>
        </p:spPr>
        <p:txBody>
          <a:bodyPr bIns="27432" lIns="73152" rIns="73152" wrap="square">
            <a:spAutoFit/>
          </a:bodyPr>
          <a:p>
            <a:pPr>
              <a:defRPr b="1" sz="1500">
                <a:solidFill>
                  <a:srgbClr val="176B87"/>
                </a:solidFill>
              </a:defRPr>
            </a:pPr>
            <a:r>
              <a:t>WEEK 4 ASSIGNMENT</a:t>
            </a:r>
          </a:p>
        </p:txBody>
      </p:sp>
      <p:sp>
        <p:nvSpPr>
          <p:cNvPr id="1048585" name="TextBox 2"/>
          <p:cNvSpPr txBox="1"/>
          <p:nvPr/>
        </p:nvSpPr>
        <p:spPr>
          <a:xfrm>
            <a:off x="731520" y="1508760"/>
            <a:ext cx="10698480" cy="962152"/>
          </a:xfrm>
          <a:prstGeom prst="rect"/>
          <a:noFill/>
        </p:spPr>
        <p:txBody>
          <a:bodyPr bIns="27432" lIns="73152" rIns="73152" wrap="square">
            <a:spAutoFit/>
          </a:bodyPr>
          <a:p>
            <a:pPr>
              <a:defRPr b="1" sz="3000">
                <a:solidFill>
                  <a:srgbClr val="17324D"/>
                </a:solidFill>
              </a:defRPr>
            </a:pPr>
            <a:r>
              <a:t>Web Application Architecture</a:t>
            </a:r>
          </a:p>
          <a:p>
            <a:pPr>
              <a:defRPr b="1" sz="3000">
                <a:solidFill>
                  <a:srgbClr val="17324D"/>
                </a:solidFill>
              </a:defRPr>
            </a:pPr>
            <a:r>
              <a:t>Case Study: Amazon.com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777240" y="2880360"/>
            <a:ext cx="9875520" cy="339852"/>
          </a:xfrm>
          <a:prstGeom prst="rect"/>
          <a:noFill/>
        </p:spPr>
        <p:txBody>
          <a:bodyPr bIns="27432" lIns="73152" rIns="73152" wrap="square">
            <a:spAutoFit/>
          </a:bodyPr>
          <a:p>
            <a:pPr>
              <a:defRPr b="0" sz="1800">
                <a:solidFill>
                  <a:srgbClr val="32414E"/>
                </a:solidFill>
              </a:defRPr>
            </a:pPr>
            <a:r>
              <a:t>How a global e-commerce platform can scale product discovery, checkout and order workflows</a:t>
            </a:r>
          </a:p>
        </p:txBody>
      </p:sp>
      <p:sp>
        <p:nvSpPr>
          <p:cNvPr id="1048587" name="Rounded Rectangle 4"/>
          <p:cNvSpPr/>
          <p:nvPr/>
        </p:nvSpPr>
        <p:spPr>
          <a:xfrm>
            <a:off x="822960" y="4251960"/>
            <a:ext cx="3200400" cy="914400"/>
          </a:xfrm>
          <a:prstGeom prst="roundRect"/>
          <a:solidFill>
            <a:srgbClr val="EAF2F8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600">
                <a:solidFill>
                  <a:srgbClr val="17324D"/>
                </a:solidFill>
              </a:defRPr>
            </a:pPr>
            <a:r>
              <a:t>Distributed services</a:t>
            </a:r>
          </a:p>
        </p:txBody>
      </p:sp>
      <p:sp>
        <p:nvSpPr>
          <p:cNvPr id="1048588" name="Rounded Rectangle 5"/>
          <p:cNvSpPr/>
          <p:nvPr/>
        </p:nvSpPr>
        <p:spPr>
          <a:xfrm>
            <a:off x="4480560" y="4251960"/>
            <a:ext cx="3200400" cy="914400"/>
          </a:xfrm>
          <a:prstGeom prst="roundRect"/>
          <a:solidFill>
            <a:srgbClr val="D5F0EA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600">
                <a:solidFill>
                  <a:srgbClr val="17324D"/>
                </a:solidFill>
              </a:defRPr>
            </a:pPr>
            <a:r>
              <a:t>Caching + edge delivery</a:t>
            </a:r>
          </a:p>
        </p:txBody>
      </p:sp>
      <p:sp>
        <p:nvSpPr>
          <p:cNvPr id="1048589" name="Rounded Rectangle 6"/>
          <p:cNvSpPr/>
          <p:nvPr/>
        </p:nvSpPr>
        <p:spPr>
          <a:xfrm>
            <a:off x="8138160" y="4251960"/>
            <a:ext cx="3200400" cy="914400"/>
          </a:xfrm>
          <a:prstGeom prst="roundRect"/>
          <a:solidFill>
            <a:srgbClr val="E9E4F7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600">
                <a:solidFill>
                  <a:srgbClr val="17324D"/>
                </a:solidFill>
              </a:defRPr>
            </a:pPr>
            <a:r>
              <a:t>Reliability + isolation</a:t>
            </a:r>
          </a:p>
        </p:txBody>
      </p:sp>
      <p:sp>
        <p:nvSpPr>
          <p:cNvPr id="1048590" name="TextBox 7"/>
          <p:cNvSpPr txBox="1"/>
          <p:nvPr/>
        </p:nvSpPr>
        <p:spPr>
          <a:xfrm>
            <a:off x="822960" y="6080760"/>
            <a:ext cx="10515600" cy="238252"/>
          </a:xfrm>
          <a:prstGeom prst="rect"/>
          <a:noFill/>
        </p:spPr>
        <p:txBody>
          <a:bodyPr bIns="27432" lIns="73152" rIns="73152" wrap="square">
            <a:spAutoFit/>
          </a:bodyPr>
          <a:p>
            <a:pPr>
              <a:defRPr b="0" sz="1100">
                <a:solidFill>
                  <a:srgbClr val="32414E"/>
                </a:solidFill>
              </a:defRPr>
            </a:pPr>
            <a:r>
              <a:t>Prepared by: </a:t>
            </a:r>
            <a:r>
              <a:rPr lang="en-US"/>
              <a:t>s</a:t>
            </a:r>
            <a:r>
              <a:rPr lang="en-US"/>
              <a:t>h</a:t>
            </a:r>
            <a:r>
              <a:rPr lang="en-US"/>
              <a:t>a</a:t>
            </a:r>
            <a:r>
              <a:rPr lang="en-US"/>
              <a:t>a</a:t>
            </a:r>
            <a:r>
              <a:rPr lang="en-US"/>
              <a:t>m</a:t>
            </a:r>
            <a:r>
              <a:rPr lang="en-US"/>
              <a:t>.</a:t>
            </a:r>
            <a:r>
              <a:rPr lang="en-US"/>
              <a:t>R</a:t>
            </a:r>
            <a:r>
              <a:t>     Class / ID: </a:t>
            </a:r>
            <a:r>
              <a:rPr lang="en-US"/>
              <a:t>D</a:t>
            </a:r>
            <a:r>
              <a:rPr lang="en-US"/>
              <a:t>V</a:t>
            </a:r>
            <a:r>
              <a:rPr lang="en-US"/>
              <a:t>P</a:t>
            </a:r>
            <a:r>
              <a:rPr lang="en-US"/>
              <a:t>1</a:t>
            </a:r>
            <a:r>
              <a:rPr lang="en-US"/>
              <a:t>1</a:t>
            </a:r>
            <a:r>
              <a:rPr lang="en-US"/>
              <a:t>1</a:t>
            </a:r>
            <a:r>
              <a:rPr lang="en-US"/>
              <a:t>2</a:t>
            </a:r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20" name=""/>
        <p:cNvGrpSpPr/>
        <p:nvPr/>
      </p:nvGrpSpPr>
      <p:grpSpPr>
        <a:xfrm/>
      </p:grpSpPr>
      <p:sp>
        <p:nvSpPr>
          <p:cNvPr id="1048591" name="TextBox 1"/>
          <p:cNvSpPr txBox="1"/>
          <p:nvPr/>
        </p:nvSpPr>
        <p:spPr>
          <a:xfrm>
            <a:off x="502920" y="256032"/>
            <a:ext cx="4062929" cy="472440"/>
          </a:xfrm>
          <a:prstGeom prst="rect"/>
          <a:noFill/>
        </p:spPr>
        <p:txBody>
          <a:bodyPr wrap="none">
            <a:spAutoFit/>
          </a:bodyPr>
          <a:p>
            <a:pPr>
              <a:defRPr b="1" sz="2600">
                <a:solidFill>
                  <a:srgbClr val="17324D"/>
                </a:solidFill>
              </a:defRPr>
            </a:pPr>
            <a:r>
              <a:t>1. Architecture at a Glance</a:t>
            </a:r>
          </a:p>
        </p:txBody>
      </p:sp>
      <p:sp>
        <p:nvSpPr>
          <p:cNvPr id="1048592" name="TextBox 2"/>
          <p:cNvSpPr txBox="1"/>
          <p:nvPr/>
        </p:nvSpPr>
        <p:spPr>
          <a:xfrm>
            <a:off x="530352" y="804672"/>
            <a:ext cx="4897210" cy="256541"/>
          </a:xfrm>
          <a:prstGeom prst="rect"/>
          <a:noFill/>
        </p:spPr>
        <p:txBody>
          <a:bodyPr wrap="none">
            <a:spAutoFit/>
          </a:bodyPr>
          <a:p>
            <a:pPr>
              <a:defRPr sz="1100">
                <a:solidFill>
                  <a:srgbClr val="32414E"/>
                </a:solidFill>
              </a:defRPr>
            </a:pPr>
            <a:r>
              <a:t>Illustrative logical diagram — not Amazon's proprietary production topology</a:t>
            </a:r>
          </a:p>
        </p:txBody>
      </p:sp>
      <p:sp>
        <p:nvSpPr>
          <p:cNvPr id="1048593" name="Rounded Rectangle 3"/>
          <p:cNvSpPr/>
          <p:nvPr/>
        </p:nvSpPr>
        <p:spPr>
          <a:xfrm>
            <a:off x="4114800" y="1325880"/>
            <a:ext cx="3840480" cy="594360"/>
          </a:xfrm>
          <a:prstGeom prst="roundRect"/>
          <a:solidFill>
            <a:srgbClr val="EAF2F8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300">
                <a:solidFill>
                  <a:srgbClr val="17324D"/>
                </a:solidFill>
              </a:defRPr>
            </a:pPr>
            <a:r>
              <a:t>Customer browser / mobile app</a:t>
            </a:r>
          </a:p>
        </p:txBody>
      </p:sp>
      <p:sp>
        <p:nvSpPr>
          <p:cNvPr id="1048594" name="Rounded Rectangle 4"/>
          <p:cNvSpPr/>
          <p:nvPr/>
        </p:nvSpPr>
        <p:spPr>
          <a:xfrm>
            <a:off x="4114800" y="2240280"/>
            <a:ext cx="3840480" cy="594360"/>
          </a:xfrm>
          <a:prstGeom prst="roundRect"/>
          <a:solidFill>
            <a:srgbClr val="EAF2F8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200">
                <a:solidFill>
                  <a:srgbClr val="17324D"/>
                </a:solidFill>
              </a:defRPr>
            </a:pPr>
            <a:r>
              <a:t>DNS + edge delivery / CDN / security</a:t>
            </a:r>
          </a:p>
        </p:txBody>
      </p:sp>
      <p:sp>
        <p:nvSpPr>
          <p:cNvPr id="1048595" name="Rounded Rectangle 5"/>
          <p:cNvSpPr/>
          <p:nvPr/>
        </p:nvSpPr>
        <p:spPr>
          <a:xfrm>
            <a:off x="4114800" y="3154680"/>
            <a:ext cx="3840480" cy="594360"/>
          </a:xfrm>
          <a:prstGeom prst="roundRect"/>
          <a:solidFill>
            <a:srgbClr val="D5F0EA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200">
                <a:solidFill>
                  <a:srgbClr val="17324D"/>
                </a:solidFill>
              </a:defRPr>
            </a:pPr>
            <a:r>
              <a:t>Load balancing + web/API entry layer</a:t>
            </a:r>
          </a:p>
        </p:txBody>
      </p:sp>
      <p:cxnSp>
        <p:nvCxnSpPr>
          <p:cNvPr id="3145728" name="Connector 6"/>
          <p:cNvCxnSpPr>
            <a:cxnSpLocks/>
          </p:cNvCxnSpPr>
          <p:nvPr/>
        </p:nvCxnSpPr>
        <p:spPr>
          <a:xfrm>
            <a:off x="6035040" y="1920240"/>
            <a:ext cx="0" cy="301752"/>
          </a:xfrm>
          <a:prstGeom prst="line"/>
          <a:ln w="19050">
            <a:solidFill>
              <a:srgbClr val="52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29" name="Connector 7"/>
          <p:cNvCxnSpPr>
            <a:cxnSpLocks/>
          </p:cNvCxnSpPr>
          <p:nvPr/>
        </p:nvCxnSpPr>
        <p:spPr>
          <a:xfrm>
            <a:off x="6035040" y="2834640"/>
            <a:ext cx="0" cy="301752"/>
          </a:xfrm>
          <a:prstGeom prst="line"/>
          <a:ln w="19050">
            <a:solidFill>
              <a:srgbClr val="52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596" name="Rounded Rectangle 8"/>
          <p:cNvSpPr/>
          <p:nvPr/>
        </p:nvSpPr>
        <p:spPr>
          <a:xfrm>
            <a:off x="502920" y="4251960"/>
            <a:ext cx="3246120" cy="777240"/>
          </a:xfrm>
          <a:prstGeom prst="roundRect"/>
          <a:solidFill>
            <a:srgbClr val="FFF0D9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200">
                <a:solidFill>
                  <a:srgbClr val="17324D"/>
                </a:solidFill>
              </a:defRPr>
            </a:pPr>
            <a:r>
              <a:t>Product catalogue &amp; search</a:t>
            </a:r>
          </a:p>
        </p:txBody>
      </p:sp>
      <p:sp>
        <p:nvSpPr>
          <p:cNvPr id="1048597" name="Rounded Rectangle 9"/>
          <p:cNvSpPr/>
          <p:nvPr/>
        </p:nvSpPr>
        <p:spPr>
          <a:xfrm>
            <a:off x="4480560" y="4251960"/>
            <a:ext cx="3246120" cy="777240"/>
          </a:xfrm>
          <a:prstGeom prst="roundRect"/>
          <a:solidFill>
            <a:srgbClr val="FFF0D9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200">
                <a:solidFill>
                  <a:srgbClr val="17324D"/>
                </a:solidFill>
              </a:defRPr>
            </a:pPr>
            <a:r>
              <a:t>Cart, checkout &amp; orders</a:t>
            </a:r>
          </a:p>
        </p:txBody>
      </p:sp>
      <p:sp>
        <p:nvSpPr>
          <p:cNvPr id="1048598" name="Rounded Rectangle 10"/>
          <p:cNvSpPr/>
          <p:nvPr/>
        </p:nvSpPr>
        <p:spPr>
          <a:xfrm>
            <a:off x="8458200" y="4251960"/>
            <a:ext cx="3246120" cy="777240"/>
          </a:xfrm>
          <a:prstGeom prst="roundRect"/>
          <a:solidFill>
            <a:srgbClr val="FFF0D9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200">
                <a:solidFill>
                  <a:srgbClr val="17324D"/>
                </a:solidFill>
              </a:defRPr>
            </a:pPr>
            <a:r>
              <a:t>Identity, pricing &amp; offers</a:t>
            </a:r>
          </a:p>
        </p:txBody>
      </p:sp>
      <p:cxnSp>
        <p:nvCxnSpPr>
          <p:cNvPr id="3145730" name="Connector 11"/>
          <p:cNvCxnSpPr>
            <a:cxnSpLocks/>
          </p:cNvCxnSpPr>
          <p:nvPr/>
        </p:nvCxnSpPr>
        <p:spPr>
          <a:xfrm flipH="1">
            <a:off x="2125980" y="3749039"/>
            <a:ext cx="3909060" cy="475489"/>
          </a:xfrm>
          <a:prstGeom prst="line"/>
          <a:ln w="19050">
            <a:solidFill>
              <a:srgbClr val="52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1" name="Connector 12"/>
          <p:cNvCxnSpPr>
            <a:cxnSpLocks/>
          </p:cNvCxnSpPr>
          <p:nvPr/>
        </p:nvCxnSpPr>
        <p:spPr>
          <a:xfrm>
            <a:off x="6035040" y="3749039"/>
            <a:ext cx="68580" cy="475489"/>
          </a:xfrm>
          <a:prstGeom prst="line"/>
          <a:ln w="19050">
            <a:solidFill>
              <a:srgbClr val="52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2" name="Connector 13"/>
          <p:cNvCxnSpPr>
            <a:cxnSpLocks/>
          </p:cNvCxnSpPr>
          <p:nvPr/>
        </p:nvCxnSpPr>
        <p:spPr>
          <a:xfrm>
            <a:off x="6035040" y="3749039"/>
            <a:ext cx="4046220" cy="475489"/>
          </a:xfrm>
          <a:prstGeom prst="line"/>
          <a:ln w="19050">
            <a:solidFill>
              <a:srgbClr val="52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599" name="Rounded Rectangle 14"/>
          <p:cNvSpPr/>
          <p:nvPr/>
        </p:nvSpPr>
        <p:spPr>
          <a:xfrm>
            <a:off x="1828800" y="5486400"/>
            <a:ext cx="8503920" cy="594360"/>
          </a:xfrm>
          <a:prstGeom prst="roundRect"/>
          <a:solidFill>
            <a:srgbClr val="E9E4F7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300">
                <a:solidFill>
                  <a:srgbClr val="17324D"/>
                </a:solidFill>
              </a:defRPr>
            </a:pPr>
            <a:r>
              <a:t>Data stores • caches • event / analytics systems</a:t>
            </a:r>
          </a:p>
        </p:txBody>
      </p:sp>
      <p:cxnSp>
        <p:nvCxnSpPr>
          <p:cNvPr id="3145733" name="Connector 15"/>
          <p:cNvCxnSpPr>
            <a:cxnSpLocks/>
          </p:cNvCxnSpPr>
          <p:nvPr/>
        </p:nvCxnSpPr>
        <p:spPr>
          <a:xfrm>
            <a:off x="2125980" y="5029200"/>
            <a:ext cx="0" cy="429768"/>
          </a:xfrm>
          <a:prstGeom prst="line"/>
          <a:ln w="19050">
            <a:solidFill>
              <a:srgbClr val="52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4" name="Connector 16"/>
          <p:cNvCxnSpPr>
            <a:cxnSpLocks/>
          </p:cNvCxnSpPr>
          <p:nvPr/>
        </p:nvCxnSpPr>
        <p:spPr>
          <a:xfrm>
            <a:off x="6103620" y="5029200"/>
            <a:ext cx="0" cy="429768"/>
          </a:xfrm>
          <a:prstGeom prst="line"/>
          <a:ln w="19050">
            <a:solidFill>
              <a:srgbClr val="52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5" name="Connector 17"/>
          <p:cNvCxnSpPr>
            <a:cxnSpLocks/>
          </p:cNvCxnSpPr>
          <p:nvPr/>
        </p:nvCxnSpPr>
        <p:spPr>
          <a:xfrm>
            <a:off x="10081260" y="5029200"/>
            <a:ext cx="0" cy="429768"/>
          </a:xfrm>
          <a:prstGeom prst="line"/>
          <a:ln w="19050">
            <a:solidFill>
              <a:srgbClr val="52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00" name="TextBox 18"/>
          <p:cNvSpPr txBox="1"/>
          <p:nvPr/>
        </p:nvSpPr>
        <p:spPr>
          <a:xfrm>
            <a:off x="594360" y="6291072"/>
            <a:ext cx="10972800" cy="228600"/>
          </a:xfrm>
          <a:prstGeom prst="rect"/>
          <a:noFill/>
        </p:spPr>
        <p:txBody>
          <a:bodyPr bIns="27432" lIns="73152" rIns="73152" wrap="square">
            <a:spAutoFit/>
          </a:bodyPr>
          <a:p>
            <a:pPr>
              <a:defRPr b="0" sz="1000">
                <a:solidFill>
                  <a:srgbClr val="32414E"/>
                </a:solidFill>
              </a:defRPr>
            </a:pPr>
            <a:r>
              <a:t>Key idea: services handle separate business capabilities and interact through defined interfaces.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21" name=""/>
        <p:cNvGrpSpPr/>
        <p:nvPr/>
      </p:nvGrpSpPr>
      <p:grpSpPr>
        <a:xfrm/>
      </p:grpSpPr>
      <p:sp>
        <p:nvSpPr>
          <p:cNvPr id="1048601" name="TextBox 1"/>
          <p:cNvSpPr txBox="1"/>
          <p:nvPr/>
        </p:nvSpPr>
        <p:spPr>
          <a:xfrm>
            <a:off x="502920" y="256032"/>
            <a:ext cx="5950714" cy="472440"/>
          </a:xfrm>
          <a:prstGeom prst="rect"/>
          <a:noFill/>
        </p:spPr>
        <p:txBody>
          <a:bodyPr wrap="none">
            <a:spAutoFit/>
          </a:bodyPr>
          <a:p>
            <a:pPr>
              <a:defRPr b="1" sz="2600">
                <a:solidFill>
                  <a:srgbClr val="17324D"/>
                </a:solidFill>
              </a:defRPr>
            </a:pPr>
            <a:r>
              <a:t>2. Web Server and Backend Technology</a:t>
            </a:r>
          </a:p>
        </p:txBody>
      </p:sp>
      <p:sp>
        <p:nvSpPr>
          <p:cNvPr id="1048602" name="TextBox 2"/>
          <p:cNvSpPr txBox="1"/>
          <p:nvPr/>
        </p:nvSpPr>
        <p:spPr>
          <a:xfrm>
            <a:off x="530352" y="804672"/>
            <a:ext cx="3366016" cy="256541"/>
          </a:xfrm>
          <a:prstGeom prst="rect"/>
          <a:noFill/>
        </p:spPr>
        <p:txBody>
          <a:bodyPr wrap="none">
            <a:spAutoFit/>
          </a:bodyPr>
          <a:p>
            <a:pPr>
              <a:defRPr sz="1100">
                <a:solidFill>
                  <a:srgbClr val="32414E"/>
                </a:solidFill>
              </a:defRPr>
            </a:pPr>
            <a:r>
              <a:t>Avoid guessing proprietary implementation details</a:t>
            </a:r>
          </a:p>
        </p:txBody>
      </p:sp>
      <p:sp>
        <p:nvSpPr>
          <p:cNvPr id="1048603" name="Rounded Rectangle 3"/>
          <p:cNvSpPr/>
          <p:nvPr/>
        </p:nvSpPr>
        <p:spPr>
          <a:xfrm>
            <a:off x="640080" y="1371600"/>
            <a:ext cx="3474720" cy="1005840"/>
          </a:xfrm>
          <a:prstGeom prst="roundRect"/>
          <a:solidFill>
            <a:srgbClr val="EAF2F8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400">
                <a:solidFill>
                  <a:srgbClr val="17324D"/>
                </a:solidFill>
              </a:defRPr>
            </a:pPr>
            <a:r>
              <a:t>Web / edge layer</a:t>
            </a:r>
            <a:br/>
            <a:r>
              <a:t>DNS • CDN • load balancing • APIs</a:t>
            </a:r>
          </a:p>
        </p:txBody>
      </p:sp>
      <p:sp>
        <p:nvSpPr>
          <p:cNvPr id="1048604" name="Rounded Rectangle 4"/>
          <p:cNvSpPr/>
          <p:nvPr/>
        </p:nvSpPr>
        <p:spPr>
          <a:xfrm>
            <a:off x="4389120" y="1371600"/>
            <a:ext cx="3474720" cy="1005840"/>
          </a:xfrm>
          <a:prstGeom prst="roundRect"/>
          <a:solidFill>
            <a:srgbClr val="D5F0EA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400">
                <a:solidFill>
                  <a:srgbClr val="17324D"/>
                </a:solidFill>
              </a:defRPr>
            </a:pPr>
            <a:r>
              <a:t>Business services</a:t>
            </a:r>
            <a:br/>
            <a:r>
              <a:t>Search • cart • checkout • orders</a:t>
            </a:r>
          </a:p>
        </p:txBody>
      </p:sp>
      <p:sp>
        <p:nvSpPr>
          <p:cNvPr id="1048605" name="Rounded Rectangle 5"/>
          <p:cNvSpPr/>
          <p:nvPr/>
        </p:nvSpPr>
        <p:spPr>
          <a:xfrm>
            <a:off x="8138160" y="1371600"/>
            <a:ext cx="3474720" cy="1005840"/>
          </a:xfrm>
          <a:prstGeom prst="roundRect"/>
          <a:solidFill>
            <a:srgbClr val="E9E4F7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400">
                <a:solidFill>
                  <a:srgbClr val="17324D"/>
                </a:solidFill>
              </a:defRPr>
            </a:pPr>
            <a:r>
              <a:t>Data + events</a:t>
            </a:r>
            <a:br/>
            <a:r>
              <a:t>Databases • caches • queues</a:t>
            </a:r>
          </a:p>
        </p:txBody>
      </p:sp>
      <p:sp>
        <p:nvSpPr>
          <p:cNvPr id="1048606" name="TextBox 6"/>
          <p:cNvSpPr txBox="1"/>
          <p:nvPr/>
        </p:nvSpPr>
        <p:spPr>
          <a:xfrm>
            <a:off x="731520" y="2788920"/>
            <a:ext cx="10881360" cy="594360"/>
          </a:xfrm>
          <a:prstGeom prst="rect"/>
          <a:noFill/>
        </p:spPr>
        <p:txBody>
          <a:bodyPr bIns="27432" lIns="73152" rIns="73152" wrap="square">
            <a:spAutoFit/>
          </a:bodyPr>
          <a:p>
            <a:pPr>
              <a:defRPr b="1" sz="1700">
                <a:solidFill>
                  <a:srgbClr val="17324D"/>
                </a:solidFill>
              </a:defRPr>
            </a:pPr>
            <a:r>
              <a:t>Public sources do not confirm one web-server product or one language/framework for the entire Amazon.com site.</a:t>
            </a:r>
          </a:p>
        </p:txBody>
      </p:sp>
      <p:sp>
        <p:nvSpPr>
          <p:cNvPr id="1048607" name="TextBox 7"/>
          <p:cNvSpPr txBox="1"/>
          <p:nvPr/>
        </p:nvSpPr>
        <p:spPr>
          <a:xfrm>
            <a:off x="777240" y="3657600"/>
            <a:ext cx="10698480" cy="1762253"/>
          </a:xfrm>
          <a:prstGeom prst="rect"/>
          <a:noFill/>
        </p:spPr>
        <p:txBody>
          <a:bodyPr bIns="27432" lIns="73152" rIns="73152" wrap="square">
            <a:spAutoFit/>
          </a:bodyPr>
          <a:p>
            <a:pPr>
              <a:defRPr b="0" sz="1600">
                <a:solidFill>
                  <a:srgbClr val="32414E"/>
                </a:solidFill>
              </a:defRPr>
            </a:pPr>
            <a:r>
              <a:t>Why distributed services?</a:t>
            </a:r>
          </a:p>
          <a:p>
            <a:pPr>
              <a:defRPr b="0" sz="1600">
                <a:solidFill>
                  <a:srgbClr val="32414E"/>
                </a:solidFill>
              </a:defRPr>
            </a:pPr>
            <a:r>
              <a:t>• Scale high-demand capabilities separately</a:t>
            </a:r>
          </a:p>
          <a:p>
            <a:pPr>
              <a:defRPr b="0" sz="1600">
                <a:solidFill>
                  <a:srgbClr val="32414E"/>
                </a:solidFill>
              </a:defRPr>
            </a:pPr>
            <a:r>
              <a:t>• Release features with less coupling</a:t>
            </a:r>
          </a:p>
          <a:p>
            <a:pPr>
              <a:defRPr b="0" sz="1600">
                <a:solidFill>
                  <a:srgbClr val="32414E"/>
                </a:solidFill>
              </a:defRPr>
            </a:pPr>
            <a:r>
              <a:t>• Isolate failures and protect dependencies</a:t>
            </a:r>
          </a:p>
          <a:p>
            <a:pPr>
              <a:defRPr b="0" sz="1600">
                <a:solidFill>
                  <a:srgbClr val="32414E"/>
                </a:solidFill>
              </a:defRPr>
            </a:pPr>
            <a:r>
              <a:t>• Choose suitable tools for different workloads</a:t>
            </a:r>
          </a:p>
          <a:p>
            <a:pPr>
              <a:defRPr b="0" sz="1600">
                <a:solidFill>
                  <a:srgbClr val="32414E"/>
                </a:solidFill>
              </a:defRPr>
            </a:pPr>
          </a:p>
          <a:p>
            <a:pPr>
              <a:defRPr b="0" sz="1600">
                <a:solidFill>
                  <a:srgbClr val="32414E"/>
                </a:solidFill>
              </a:defRPr>
            </a:pPr>
            <a:r>
              <a:t>Trade-off: more network calls, monitoring needs and distributed debugging complexity.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22" name=""/>
        <p:cNvGrpSpPr/>
        <p:nvPr/>
      </p:nvGrpSpPr>
      <p:grpSpPr>
        <a:xfrm/>
      </p:grpSpPr>
      <p:sp>
        <p:nvSpPr>
          <p:cNvPr id="1048608" name="TextBox 1"/>
          <p:cNvSpPr txBox="1"/>
          <p:nvPr/>
        </p:nvSpPr>
        <p:spPr>
          <a:xfrm>
            <a:off x="502920" y="256032"/>
            <a:ext cx="5605780" cy="472440"/>
          </a:xfrm>
          <a:prstGeom prst="rect"/>
          <a:noFill/>
        </p:spPr>
        <p:txBody>
          <a:bodyPr wrap="none">
            <a:spAutoFit/>
          </a:bodyPr>
          <a:p>
            <a:pPr>
              <a:defRPr b="1" sz="2600">
                <a:solidFill>
                  <a:srgbClr val="17324D"/>
                </a:solidFill>
              </a:defRPr>
            </a:pPr>
            <a:r>
              <a:t>3. Hosting, Scaling, Caching and CDN</a:t>
            </a:r>
          </a:p>
        </p:txBody>
      </p:sp>
      <p:sp>
        <p:nvSpPr>
          <p:cNvPr id="1048609" name="Rounded Rectangle 2"/>
          <p:cNvSpPr/>
          <p:nvPr/>
        </p:nvSpPr>
        <p:spPr>
          <a:xfrm>
            <a:off x="640080" y="1325880"/>
            <a:ext cx="3474720" cy="1005840"/>
          </a:xfrm>
          <a:prstGeom prst="roundRect"/>
          <a:solidFill>
            <a:srgbClr val="EAF2F8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400">
                <a:solidFill>
                  <a:srgbClr val="17324D"/>
                </a:solidFill>
              </a:defRPr>
            </a:pPr>
            <a:r>
              <a:t>Traffic management</a:t>
            </a:r>
            <a:br/>
            <a:r>
              <a:t>Routing + load balancing</a:t>
            </a:r>
          </a:p>
        </p:txBody>
      </p:sp>
      <p:sp>
        <p:nvSpPr>
          <p:cNvPr id="1048610" name="Rounded Rectangle 3"/>
          <p:cNvSpPr/>
          <p:nvPr/>
        </p:nvSpPr>
        <p:spPr>
          <a:xfrm>
            <a:off x="4389120" y="1325880"/>
            <a:ext cx="3474720" cy="1005840"/>
          </a:xfrm>
          <a:prstGeom prst="roundRect"/>
          <a:solidFill>
            <a:srgbClr val="D5F0EA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300">
                <a:solidFill>
                  <a:srgbClr val="17324D"/>
                </a:solidFill>
              </a:defRPr>
            </a:pPr>
            <a:r>
              <a:t>Scaling + resilience</a:t>
            </a:r>
            <a:br/>
            <a:r>
              <a:t>Capacity • isolation • monitoring</a:t>
            </a:r>
          </a:p>
        </p:txBody>
      </p:sp>
      <p:sp>
        <p:nvSpPr>
          <p:cNvPr id="1048611" name="Rounded Rectangle 4"/>
          <p:cNvSpPr/>
          <p:nvPr/>
        </p:nvSpPr>
        <p:spPr>
          <a:xfrm>
            <a:off x="8138160" y="1325880"/>
            <a:ext cx="3474720" cy="1005840"/>
          </a:xfrm>
          <a:prstGeom prst="roundRect"/>
          <a:solidFill>
            <a:srgbClr val="E9E4F7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300">
                <a:solidFill>
                  <a:srgbClr val="17324D"/>
                </a:solidFill>
              </a:defRPr>
            </a:pPr>
            <a:r>
              <a:t>Caching + CDN</a:t>
            </a:r>
            <a:br/>
            <a:r>
              <a:t>Lower latency • less origin load</a:t>
            </a:r>
          </a:p>
        </p:txBody>
      </p:sp>
      <p:sp>
        <p:nvSpPr>
          <p:cNvPr id="1048612" name="TextBox 5"/>
          <p:cNvSpPr txBox="1"/>
          <p:nvPr/>
        </p:nvSpPr>
        <p:spPr>
          <a:xfrm>
            <a:off x="731520" y="2788920"/>
            <a:ext cx="10881360" cy="2003552"/>
          </a:xfrm>
          <a:prstGeom prst="rect"/>
          <a:noFill/>
        </p:spPr>
        <p:txBody>
          <a:bodyPr bIns="27432" lIns="73152" rIns="73152" wrap="square">
            <a:spAutoFit/>
          </a:bodyPr>
          <a:p>
            <a:pPr>
              <a:defRPr b="0" sz="1600">
                <a:solidFill>
                  <a:srgbClr val="32414E"/>
                </a:solidFill>
              </a:defRPr>
            </a:pPr>
            <a:r>
              <a:t>• Amazon operates a global service, but public sources do not map every Amazon.com component to a specific hosting environment.</a:t>
            </a:r>
          </a:p>
          <a:p>
            <a:pPr>
              <a:defRPr b="0" sz="1600">
                <a:solidFill>
                  <a:srgbClr val="32414E"/>
                </a:solidFill>
              </a:defRPr>
            </a:pPr>
          </a:p>
          <a:p>
            <a:pPr>
              <a:defRPr b="0" sz="1600">
                <a:solidFill>
                  <a:srgbClr val="32414E"/>
                </a:solidFill>
              </a:defRPr>
            </a:pPr>
            <a:r>
              <a:t>• Cache frequently requested data and static assets where appropriate; monitor hit rate and cache health.</a:t>
            </a:r>
          </a:p>
          <a:p>
            <a:pPr>
              <a:defRPr b="0" sz="1600">
                <a:solidFill>
                  <a:srgbClr val="32414E"/>
                </a:solidFill>
              </a:defRPr>
            </a:pPr>
          </a:p>
          <a:p>
            <a:pPr>
              <a:defRPr b="0" sz="1600">
                <a:solidFill>
                  <a:srgbClr val="32414E"/>
                </a:solidFill>
              </a:defRPr>
            </a:pPr>
            <a:r>
              <a:t>• Plan for stale data, cache misses and cache outages so backend services are not overwhelmed.</a:t>
            </a:r>
          </a:p>
          <a:p>
            <a:pPr>
              <a:defRPr b="0" sz="1600">
                <a:solidFill>
                  <a:srgbClr val="32414E"/>
                </a:solidFill>
              </a:defRPr>
            </a:pPr>
          </a:p>
          <a:p>
            <a:pPr>
              <a:defRPr b="0" sz="1600">
                <a:solidFill>
                  <a:srgbClr val="32414E"/>
                </a:solidFill>
              </a:defRPr>
            </a:pPr>
            <a:r>
              <a:t>• Protect entry points with encryption, access controls, abuse protection and operational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23" name=""/>
        <p:cNvGrpSpPr/>
        <p:nvPr/>
      </p:nvGrpSpPr>
      <p:grpSpPr>
        <a:xfrm/>
      </p:grpSpPr>
      <p:sp>
        <p:nvSpPr>
          <p:cNvPr id="1048613" name="TextBox 1"/>
          <p:cNvSpPr txBox="1"/>
          <p:nvPr/>
        </p:nvSpPr>
        <p:spPr>
          <a:xfrm>
            <a:off x="502920" y="256032"/>
            <a:ext cx="4262507" cy="472440"/>
          </a:xfrm>
          <a:prstGeom prst="rect"/>
          <a:noFill/>
        </p:spPr>
        <p:txBody>
          <a:bodyPr wrap="none">
            <a:spAutoFit/>
          </a:bodyPr>
          <a:p>
            <a:pPr>
              <a:defRPr b="1" sz="2600">
                <a:solidFill>
                  <a:srgbClr val="17324D"/>
                </a:solidFill>
              </a:defRPr>
            </a:pPr>
            <a:r>
              <a:t>4. Summary and Conclusion</a:t>
            </a:r>
          </a:p>
        </p:txBody>
      </p:sp>
      <p:sp>
        <p:nvSpPr>
          <p:cNvPr id="1048614" name="Rounded Rectangle 2"/>
          <p:cNvSpPr/>
          <p:nvPr/>
        </p:nvSpPr>
        <p:spPr>
          <a:xfrm>
            <a:off x="685800" y="1280160"/>
            <a:ext cx="2423160" cy="566928"/>
          </a:xfrm>
          <a:prstGeom prst="roundRect"/>
          <a:solidFill>
            <a:srgbClr val="EAF2F8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200">
                <a:solidFill>
                  <a:srgbClr val="17324D"/>
                </a:solidFill>
              </a:defRPr>
            </a:pPr>
            <a:r>
              <a:t>Architecture</a:t>
            </a:r>
          </a:p>
        </p:txBody>
      </p:sp>
      <p:sp>
        <p:nvSpPr>
          <p:cNvPr id="1048615" name="Rounded Rectangle 3"/>
          <p:cNvSpPr/>
          <p:nvPr/>
        </p:nvSpPr>
        <p:spPr>
          <a:xfrm>
            <a:off x="3337560" y="1280160"/>
            <a:ext cx="8138160" cy="566928"/>
          </a:xfrm>
          <a:prstGeom prst="roundRect"/>
          <a:solidFill>
            <a:srgbClr val="FFFFFF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100">
                <a:solidFill>
                  <a:srgbClr val="17324D"/>
                </a:solidFill>
              </a:defRPr>
            </a:pPr>
            <a:r>
              <a:t>Distributed, service-oriented / microservices-style</a:t>
            </a:r>
          </a:p>
        </p:txBody>
      </p:sp>
      <p:sp>
        <p:nvSpPr>
          <p:cNvPr id="1048616" name="Rounded Rectangle 4"/>
          <p:cNvSpPr/>
          <p:nvPr/>
        </p:nvSpPr>
        <p:spPr>
          <a:xfrm>
            <a:off x="685800" y="1993391"/>
            <a:ext cx="2423160" cy="566928"/>
          </a:xfrm>
          <a:prstGeom prst="roundRect"/>
          <a:solidFill>
            <a:srgbClr val="D5F0EA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200">
                <a:solidFill>
                  <a:srgbClr val="17324D"/>
                </a:solidFill>
              </a:defRPr>
            </a:pPr>
            <a:r>
              <a:t>Web server</a:t>
            </a:r>
          </a:p>
        </p:txBody>
      </p:sp>
      <p:sp>
        <p:nvSpPr>
          <p:cNvPr id="1048617" name="Rounded Rectangle 5"/>
          <p:cNvSpPr/>
          <p:nvPr/>
        </p:nvSpPr>
        <p:spPr>
          <a:xfrm>
            <a:off x="3337560" y="1993391"/>
            <a:ext cx="8138160" cy="566928"/>
          </a:xfrm>
          <a:prstGeom prst="roundRect"/>
          <a:solidFill>
            <a:srgbClr val="FFFFFF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100">
                <a:solidFill>
                  <a:srgbClr val="17324D"/>
                </a:solidFill>
              </a:defRPr>
            </a:pPr>
            <a:r>
              <a:t>One product for the whole site is not publicly confirmed</a:t>
            </a:r>
          </a:p>
        </p:txBody>
      </p:sp>
      <p:sp>
        <p:nvSpPr>
          <p:cNvPr id="1048618" name="Rounded Rectangle 6"/>
          <p:cNvSpPr/>
          <p:nvPr/>
        </p:nvSpPr>
        <p:spPr>
          <a:xfrm>
            <a:off x="685800" y="2706624"/>
            <a:ext cx="2423160" cy="566928"/>
          </a:xfrm>
          <a:prstGeom prst="roundRect"/>
          <a:solidFill>
            <a:srgbClr val="EAF2F8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200">
                <a:solidFill>
                  <a:srgbClr val="17324D"/>
                </a:solidFill>
              </a:defRPr>
            </a:pPr>
            <a:r>
              <a:t>Backend stack</a:t>
            </a:r>
          </a:p>
        </p:txBody>
      </p:sp>
      <p:sp>
        <p:nvSpPr>
          <p:cNvPr id="1048619" name="Rounded Rectangle 7"/>
          <p:cNvSpPr/>
          <p:nvPr/>
        </p:nvSpPr>
        <p:spPr>
          <a:xfrm>
            <a:off x="3337560" y="2706624"/>
            <a:ext cx="8138160" cy="566928"/>
          </a:xfrm>
          <a:prstGeom prst="roundRect"/>
          <a:solidFill>
            <a:srgbClr val="FFFFFF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100">
                <a:solidFill>
                  <a:srgbClr val="17324D"/>
                </a:solidFill>
              </a:defRPr>
            </a:pPr>
            <a:r>
              <a:t>Many services; exact full language/framework inventory is not public</a:t>
            </a:r>
          </a:p>
        </p:txBody>
      </p:sp>
      <p:sp>
        <p:nvSpPr>
          <p:cNvPr id="1048620" name="Rounded Rectangle 8"/>
          <p:cNvSpPr/>
          <p:nvPr/>
        </p:nvSpPr>
        <p:spPr>
          <a:xfrm>
            <a:off x="685800" y="3419856"/>
            <a:ext cx="2423160" cy="566928"/>
          </a:xfrm>
          <a:prstGeom prst="roundRect"/>
          <a:solidFill>
            <a:srgbClr val="D5F0EA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200">
                <a:solidFill>
                  <a:srgbClr val="17324D"/>
                </a:solidFill>
              </a:defRPr>
            </a:pPr>
            <a:r>
              <a:t>Performance</a:t>
            </a:r>
          </a:p>
        </p:txBody>
      </p:sp>
      <p:sp>
        <p:nvSpPr>
          <p:cNvPr id="1048621" name="Rounded Rectangle 9"/>
          <p:cNvSpPr/>
          <p:nvPr/>
        </p:nvSpPr>
        <p:spPr>
          <a:xfrm>
            <a:off x="3337560" y="3419856"/>
            <a:ext cx="8138160" cy="566928"/>
          </a:xfrm>
          <a:prstGeom prst="roundRect"/>
          <a:solidFill>
            <a:srgbClr val="FFFFFF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100">
                <a:solidFill>
                  <a:srgbClr val="17324D"/>
                </a:solidFill>
              </a:defRPr>
            </a:pPr>
            <a:r>
              <a:t>Caching, edge delivery and workload-specific scaling</a:t>
            </a:r>
          </a:p>
        </p:txBody>
      </p:sp>
      <p:sp>
        <p:nvSpPr>
          <p:cNvPr id="1048622" name="Rounded Rectangle 10"/>
          <p:cNvSpPr/>
          <p:nvPr/>
        </p:nvSpPr>
        <p:spPr>
          <a:xfrm>
            <a:off x="685800" y="4133088"/>
            <a:ext cx="2423160" cy="566928"/>
          </a:xfrm>
          <a:prstGeom prst="roundRect"/>
          <a:solidFill>
            <a:srgbClr val="EAF2F8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200">
                <a:solidFill>
                  <a:srgbClr val="17324D"/>
                </a:solidFill>
              </a:defRPr>
            </a:pPr>
            <a:r>
              <a:t>Reliability</a:t>
            </a:r>
          </a:p>
        </p:txBody>
      </p:sp>
      <p:sp>
        <p:nvSpPr>
          <p:cNvPr id="1048623" name="Rounded Rectangle 11"/>
          <p:cNvSpPr/>
          <p:nvPr/>
        </p:nvSpPr>
        <p:spPr>
          <a:xfrm>
            <a:off x="3337560" y="4133088"/>
            <a:ext cx="8138160" cy="566928"/>
          </a:xfrm>
          <a:prstGeom prst="roundRect"/>
          <a:solidFill>
            <a:srgbClr val="FFFFFF"/>
          </a:solidFill>
          <a:ln>
            <a:solidFill>
              <a:srgbClr val="69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73152" rIns="73152" rtlCol="0" wrap="square"/>
          <a:p>
            <a:pPr algn="ctr">
              <a:defRPr b="1" sz="1100">
                <a:solidFill>
                  <a:srgbClr val="17324D"/>
                </a:solidFill>
              </a:defRPr>
            </a:pPr>
            <a:r>
              <a:t>Redundancy, isolation, metrics, alarms and recovery planning</a:t>
            </a:r>
          </a:p>
        </p:txBody>
      </p:sp>
      <p:sp>
        <p:nvSpPr>
          <p:cNvPr id="1048624" name="TextBox 12"/>
          <p:cNvSpPr txBox="1"/>
          <p:nvPr/>
        </p:nvSpPr>
        <p:spPr>
          <a:xfrm>
            <a:off x="777240" y="5074920"/>
            <a:ext cx="10698480" cy="530353"/>
          </a:xfrm>
          <a:prstGeom prst="rect"/>
          <a:noFill/>
        </p:spPr>
        <p:txBody>
          <a:bodyPr bIns="27432" lIns="73152" rIns="73152" wrap="square">
            <a:spAutoFit/>
          </a:bodyPr>
          <a:p>
            <a:pPr>
              <a:defRPr b="1" sz="1500">
                <a:solidFill>
                  <a:srgbClr val="17324D"/>
                </a:solidFill>
              </a:defRPr>
            </a:pPr>
            <a:r>
              <a:t>Conclusion: Amazon.com is best understood as a distributed system, not one web server and one database. Public engineering sources are useful, but internal implementation details must be labelled carefully.</a:t>
            </a:r>
          </a:p>
        </p:txBody>
      </p:sp>
      <p:sp>
        <p:nvSpPr>
          <p:cNvPr id="1048625" name="TextBox 13"/>
          <p:cNvSpPr txBox="1"/>
          <p:nvPr/>
        </p:nvSpPr>
        <p:spPr>
          <a:xfrm>
            <a:off x="777240" y="5989320"/>
            <a:ext cx="10698480" cy="327153"/>
          </a:xfrm>
          <a:prstGeom prst="rect"/>
          <a:noFill/>
        </p:spPr>
        <p:txBody>
          <a:bodyPr bIns="27432" lIns="73152" rIns="73152" wrap="square">
            <a:spAutoFit/>
          </a:bodyPr>
          <a:p>
            <a:pPr>
              <a:defRPr b="0" sz="900">
                <a:solidFill>
                  <a:srgbClr val="32414E"/>
                </a:solidFill>
              </a:defRPr>
            </a:pPr>
            <a:r>
              <a:t>References: amazon.jobs/content/en/teams/e-commerce-foundation • aws.amazon.com/builders-library/caching-challenges-and-strategies/ • aws.amazon.com/microservices/ • docs.aws.amazon.com/solutions/web-store-on-aws/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V2404</dc:creator>
  <cp:lastModifiedBy>Steve Canny</cp:lastModifiedBy>
  <dcterms:created xsi:type="dcterms:W3CDTF">2013-01-26T22:14:16Z</dcterms:created>
  <dcterms:modified xsi:type="dcterms:W3CDTF">2026-10-10T10:21:20Z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085ad7916c2449f59acb0f60728f9b6a_23</vt:lpwstr>
  </property>
</Properties>
</file>